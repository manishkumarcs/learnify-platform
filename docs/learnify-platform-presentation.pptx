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3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58" y="6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2967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module responsibilities and contributions as per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auth flow, token lifecycle, RBAC rules, and how middleware protects pages and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attempt → submit → analyze; highlight data structures and report visuals.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admin flows and when emails are triggered for lifecycle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ease of navigation and responsiveness across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reliability: automated checks, minimal tests, and documentation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before/after polish screens; mention a11y considerations.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409575" y="-3572"/>
            <a:ext cx="3761184" cy="5147072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6301" y="1035052"/>
            <a:ext cx="6430967" cy="1962149"/>
          </a:xfrm>
        </p:spPr>
        <p:txBody>
          <a:bodyPr anchor="b">
            <a:normAutofit/>
          </a:bodyPr>
          <a:lstStyle>
            <a:lvl1pPr algn="r">
              <a:defRPr sz="45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386533" y="2997200"/>
            <a:ext cx="5240734" cy="1041401"/>
          </a:xfrm>
        </p:spPr>
        <p:txBody>
          <a:bodyPr anchor="t">
            <a:normAutofit/>
          </a:bodyPr>
          <a:lstStyle>
            <a:lvl1pPr marL="0" indent="0" algn="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99309" y="4412457"/>
            <a:ext cx="3243033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360601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13893" y="4400349"/>
            <a:ext cx="413375" cy="273844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55281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9210" y="2000249"/>
            <a:ext cx="6698060" cy="1582787"/>
          </a:xfrm>
        </p:spPr>
        <p:txBody>
          <a:bodyPr anchor="b"/>
          <a:lstStyle>
            <a:lvl1pPr algn="r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9209" y="3583036"/>
            <a:ext cx="669806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05589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514351"/>
            <a:ext cx="7514035" cy="13144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235" y="2000250"/>
            <a:ext cx="3671291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5975" y="2000250"/>
            <a:ext cx="3671292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3611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134" y="1993900"/>
            <a:ext cx="345539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233" y="2501503"/>
            <a:ext cx="3671292" cy="18418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0366" y="2000250"/>
            <a:ext cx="3466903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5975" y="2501503"/>
            <a:ext cx="3671292" cy="18418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7417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0560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07942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1200150"/>
            <a:ext cx="2661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6525" y="514350"/>
            <a:ext cx="4680743" cy="3829051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234" y="2228850"/>
            <a:ext cx="2661841" cy="1371600"/>
          </a:xfrm>
        </p:spPr>
        <p:txBody>
          <a:bodyPr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63692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043" y="1314449"/>
            <a:ext cx="4069619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6011" y="685800"/>
            <a:ext cx="2460731" cy="3429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043" y="2343149"/>
            <a:ext cx="4069619" cy="137160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93196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4" y="3549649"/>
            <a:ext cx="7514033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5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234" y="3974702"/>
            <a:ext cx="7514033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1766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5" y="514350"/>
            <a:ext cx="7514033" cy="2286000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257550"/>
            <a:ext cx="7514035" cy="10858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35155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198959" y="6472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0069" y="211454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6159" y="514351"/>
            <a:ext cx="6742509" cy="2057399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827609" y="2571749"/>
            <a:ext cx="6399611" cy="28575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35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257550"/>
            <a:ext cx="7514033" cy="10858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6965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5" y="2481436"/>
            <a:ext cx="7514032" cy="1101600"/>
          </a:xfrm>
        </p:spPr>
        <p:txBody>
          <a:bodyPr anchor="b">
            <a:normAutofit/>
          </a:bodyPr>
          <a:lstStyle>
            <a:lvl1pPr algn="r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583036"/>
            <a:ext cx="7514033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137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198959" y="6472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0069" y="2114549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6159" y="514351"/>
            <a:ext cx="6742509" cy="2057399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235" y="2914650"/>
            <a:ext cx="7514033" cy="66675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1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581400"/>
            <a:ext cx="7514033" cy="762000"/>
          </a:xfrm>
        </p:spPr>
        <p:txBody>
          <a:bodyPr anchor="t">
            <a:normAutofit/>
          </a:bodyPr>
          <a:lstStyle>
            <a:lvl1pPr marL="0" indent="0" algn="r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93669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235" y="514350"/>
            <a:ext cx="7514034" cy="204549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234" y="2628900"/>
            <a:ext cx="7514035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4" y="3257550"/>
            <a:ext cx="7514035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2242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2936856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99492" y="514350"/>
            <a:ext cx="1327777" cy="38290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234" y="514350"/>
            <a:ext cx="6014807" cy="382905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11800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473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13109" y="0"/>
            <a:ext cx="1827610" cy="51435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234" y="514351"/>
            <a:ext cx="7514035" cy="131444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233" y="2000250"/>
            <a:ext cx="7514035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9492" y="4412457"/>
            <a:ext cx="8572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11/14/2025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9210" y="4412457"/>
            <a:ext cx="531313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13893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04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</p:sldLayoutIdLst>
  <p:hf sldNum="0" hdr="0" ftr="0" dt="0"/>
  <p:txStyles>
    <p:titleStyle>
      <a:lvl1pPr algn="ctr" defTabSz="342900" rtl="0" eaLnBrk="1" latinLnBrk="0" hangingPunct="1">
        <a:spcBef>
          <a:spcPct val="0"/>
        </a:spcBef>
        <a:buNone/>
        <a:defRPr sz="3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05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" y="914400"/>
            <a:ext cx="736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3040"/>
                </a:solidFill>
              </a:rPr>
              <a:t>EduLearn - Professional E-Learning Platform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320800" y="1899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04860"/>
                </a:solidFill>
              </a:rPr>
              <a:t>AI-powered exams, insights, and personalized learning</a:t>
            </a:r>
            <a:endParaRPr lang="en-US" sz="2000" b="1" dirty="0"/>
          </a:p>
        </p:txBody>
      </p:sp>
      <p:sp>
        <p:nvSpPr>
          <p:cNvPr id="4" name="Text 2"/>
          <p:cNvSpPr/>
          <p:nvPr/>
        </p:nvSpPr>
        <p:spPr>
          <a:xfrm>
            <a:off x="1320800" y="2448560"/>
            <a:ext cx="5405120" cy="217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600" b="1" dirty="0"/>
              <a:t>Team :</a:t>
            </a:r>
          </a:p>
          <a:p>
            <a:endParaRPr lang="en-IN" sz="1600" b="1" dirty="0"/>
          </a:p>
          <a:p>
            <a:r>
              <a:rPr lang="en-IN" sz="1600" b="1" dirty="0"/>
              <a:t>Manish Kumar – A-75 (2315990033)</a:t>
            </a:r>
            <a:br>
              <a:rPr lang="en-IN" sz="1600" b="1" dirty="0"/>
            </a:br>
            <a:r>
              <a:rPr lang="en-IN" sz="1600" b="1" dirty="0"/>
              <a:t>Akash Kumar – A-74 (2315990006)</a:t>
            </a:r>
            <a:br>
              <a:rPr lang="en-IN" sz="1600" b="1" dirty="0"/>
            </a:br>
            <a:r>
              <a:rPr lang="en-IN" sz="1600" b="1" dirty="0"/>
              <a:t>Manoj Kumar – G-75 (2315990035)</a:t>
            </a:r>
            <a:br>
              <a:rPr lang="en-IN" sz="1600" b="1" dirty="0"/>
            </a:br>
            <a:r>
              <a:rPr lang="en-IN" sz="1600" b="1" dirty="0"/>
              <a:t>Shiva </a:t>
            </a:r>
            <a:r>
              <a:rPr lang="en-IN" sz="1600" b="1" dirty="0" err="1"/>
              <a:t>Jadoun</a:t>
            </a:r>
            <a:r>
              <a:rPr lang="en-IN" sz="1600" b="1" dirty="0"/>
              <a:t> – H-75 (2315990062)</a:t>
            </a:r>
            <a:br>
              <a:rPr lang="en-IN" sz="1600" b="1" dirty="0"/>
            </a:br>
            <a:r>
              <a:rPr lang="en-IN" sz="1600" b="1" dirty="0"/>
              <a:t>Amit Saraswat – S-11 (2215000217)</a:t>
            </a:r>
            <a:br>
              <a:rPr lang="en-IN" sz="1600" b="1" dirty="0"/>
            </a:br>
            <a:r>
              <a:rPr lang="en-IN" sz="1600" b="1" dirty="0" err="1"/>
              <a:t>Somdatt</a:t>
            </a:r>
            <a:r>
              <a:rPr lang="en-IN" sz="1600" b="1" dirty="0"/>
              <a:t> Verma – T-01 (201500699)</a:t>
            </a:r>
            <a:endParaRPr lang="en-US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AE0A7D-F6F0-8847-07D0-413DC968AC48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03040"/>
                </a:solidFill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007360" y="172720"/>
            <a:ext cx="3891280" cy="50714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Problem and Solution Overview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Architecture and Tech Stack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Features and User Benefits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Live Screens and Demo Flow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Team &amp; Work Allocation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Progress, KPIs, Roadmap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Q&amp;A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FBAE28-FBA1-7719-337B-5E5B9DA402DB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6695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600" b="1" dirty="0"/>
              <a:t>Problem Statement &amp; Real-World Scenario</a:t>
            </a:r>
            <a:endParaRPr lang="en-US" sz="26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A2D84A-CE45-3811-9C4F-A5970C98ECB6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4">
            <a:extLst>
              <a:ext uri="{FF2B5EF4-FFF2-40B4-BE49-F238E27FC236}">
                <a16:creationId xmlns:a16="http://schemas.microsoft.com/office/drawing/2014/main" id="{2CD89688-69E7-A897-C051-CAEBB497112E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127760" y="1021588"/>
            <a:ext cx="8229600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Traditional learning platforms follow a one-size-fits-all approach, offering no personalization.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Students struggle to identify their strengths and weaknesses, slowing their improvement.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Teachers cannot track performance of large groups in real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Admins face manual, time-consuming tasks for managing courses, users, and assessments.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Lack of centralized analytics makes it hard to support each learner effectively.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0422C0-B9C3-1AC9-CBFF-46B1284CE3AE}"/>
              </a:ext>
            </a:extLst>
          </p:cNvPr>
          <p:cNvSpPr txBox="1"/>
          <p:nvPr/>
        </p:nvSpPr>
        <p:spPr>
          <a:xfrm>
            <a:off x="2339340" y="2221496"/>
            <a:ext cx="46786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 b="1" dirty="0"/>
              <a:t>Real-World Scenario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53DF4D-8693-B8EA-C915-20B91F4BF194}"/>
              </a:ext>
            </a:extLst>
          </p:cNvPr>
          <p:cNvSpPr txBox="1"/>
          <p:nvPr/>
        </p:nvSpPr>
        <p:spPr>
          <a:xfrm>
            <a:off x="1127760" y="2651963"/>
            <a:ext cx="77012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/>
              <a:t>Imagine a class of 60 students preparing for placements: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A student weak in DBMS keeps getting mixed quizzes instead of focused practice.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A strong Java student has no guidance on advanced topics to move ahead.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The teacher wants to find which topics most students are struggling with, but checking data manually is impossible.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/>
              <a:t>The admin is overloaded with updating content, tracking enrollments, and reviewing results across multiple tools.</a:t>
            </a:r>
          </a:p>
          <a:p>
            <a:pPr>
              <a:buNone/>
            </a:pPr>
            <a:r>
              <a:rPr lang="en-US" sz="1400" b="1" dirty="0"/>
              <a:t>Outcome</a:t>
            </a:r>
            <a:r>
              <a:rPr lang="en-US" sz="1400" dirty="0"/>
              <a:t>: No personalized learning, inefficient monitoring, and slow student progress.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03040"/>
                </a:solidFill>
              </a:rPr>
              <a:t>Solution Overview</a:t>
            </a:r>
            <a:endParaRPr lang="en-US" sz="2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8F831C-BB7D-175C-9F43-5F1DCD47E3B3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41276BA6-CB0C-9A7D-8201-E0E445134CED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219200" y="1046479"/>
            <a:ext cx="8036560" cy="1600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 centralized </a:t>
            </a:r>
            <a:r>
              <a:rPr kumimoji="0" lang="en-US" altLang="en-US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Learnify</a:t>
            </a: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Platform that personalizes learning for every student.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Provides smart analytics dashboards to identify strengths, weaknesses, and progress.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AI-powered recommendation system suggests focused quizzes and courses based on performance.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Teachers get real-time insights into class performance to deliver targeted guidance.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Admins can easily manage courses, users, quizzes, and reports from a single dashboard.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Automated performance tracking reduces manual effort and improves decision-making.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Interactive UI for students, faculty, and admin to access relevant tools quickly.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D396FE-14F1-7FC8-C4D2-98AA6A0305C4}"/>
              </a:ext>
            </a:extLst>
          </p:cNvPr>
          <p:cNvSpPr txBox="1"/>
          <p:nvPr/>
        </p:nvSpPr>
        <p:spPr>
          <a:xfrm>
            <a:off x="2367280" y="270187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Scenario (How the Solution Helps)</a:t>
            </a:r>
            <a:endParaRPr lang="en-IN" b="1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FBDB6D4B-27A6-D830-7F1B-A1A8B5F1B9F8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219200" y="3127088"/>
            <a:ext cx="779272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student weak in DBMS now receives DBMS-focused quizzes and resources, improving faster.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 strong Java student gets advanced topic recommendations to progress beyond the basics.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Teachers can instantly see topic-wise weakness heatmaps of the class.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Admins manage all data—courses, results, users—through a unified platform without juggling spreadsheets.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Overall, the learning experience becomes personalized, data-driven, and efficient.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2800" b="1" dirty="0"/>
              <a:t>Architecture Overview &amp; Tech Stack</a:t>
            </a:r>
            <a:endParaRPr lang="en-US" sz="2600" b="1" dirty="0"/>
          </a:p>
        </p:txBody>
      </p:sp>
      <p:sp>
        <p:nvSpPr>
          <p:cNvPr id="3" name="Text 1"/>
          <p:cNvSpPr/>
          <p:nvPr/>
        </p:nvSpPr>
        <p:spPr>
          <a:xfrm>
            <a:off x="1036320" y="0"/>
            <a:ext cx="4206240" cy="555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IN" sz="1600" b="1" dirty="0"/>
              <a:t>🧩 Architecture Overview</a:t>
            </a:r>
          </a:p>
          <a:p>
            <a:pPr marL="0" indent="0" algn="ctr">
              <a:buNone/>
            </a:pPr>
            <a:endParaRPr lang="en-IN" sz="1400" b="1" dirty="0"/>
          </a:p>
          <a:p>
            <a:r>
              <a:rPr lang="en-IN" sz="1400" b="1" dirty="0"/>
              <a:t>Frontend Layer: </a:t>
            </a:r>
            <a:r>
              <a:rPr lang="en-IN" sz="1400" dirty="0"/>
              <a:t>Delivers user interface for Students, Faculty, and Admin using responsive web pages.</a:t>
            </a:r>
          </a:p>
          <a:p>
            <a:r>
              <a:rPr lang="en-IN" sz="1400" b="1" dirty="0"/>
              <a:t>Backend Layer (API Services): </a:t>
            </a:r>
            <a:r>
              <a:rPr lang="en-IN" sz="1400" dirty="0"/>
              <a:t>Handles authentication, course management, quizzes, analytics, and personalized recommendations.</a:t>
            </a:r>
          </a:p>
          <a:p>
            <a:r>
              <a:rPr lang="en-IN" sz="1400" b="1" dirty="0"/>
              <a:t>Database Layer: </a:t>
            </a:r>
            <a:r>
              <a:rPr lang="en-IN" sz="1400" dirty="0"/>
              <a:t>Stores users, courses, quiz questions, results, performance data, and activity logs.</a:t>
            </a:r>
          </a:p>
          <a:p>
            <a:r>
              <a:rPr lang="en-IN" sz="1400" b="1" dirty="0"/>
              <a:t>Analytics Engine: </a:t>
            </a:r>
            <a:r>
              <a:rPr lang="en-IN" sz="1400" dirty="0"/>
              <a:t>Generates insights such as topic-wise weakness, progress tracking, and performance trends.</a:t>
            </a:r>
          </a:p>
          <a:p>
            <a:r>
              <a:rPr lang="en-IN" sz="1400" b="1" dirty="0"/>
              <a:t>Admin Dashboard: </a:t>
            </a:r>
            <a:r>
              <a:rPr lang="en-IN" sz="1400" dirty="0"/>
              <a:t>Provides control for content management, user roles, reports, and monitoring.</a:t>
            </a:r>
          </a:p>
          <a:p>
            <a:r>
              <a:rPr lang="en-IN" sz="1400" b="1" dirty="0"/>
              <a:t>Secure Communication: </a:t>
            </a:r>
            <a:r>
              <a:rPr lang="en-IN" sz="1400" dirty="0"/>
              <a:t>All layers interact via secure REST APIs for fast, reliable data exchange.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3CBD8-BA46-C2E0-6E50-4CD736EB37D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12CEC9-58CB-4801-9964-4FEA76B32CA0}"/>
              </a:ext>
            </a:extLst>
          </p:cNvPr>
          <p:cNvSpPr txBox="1"/>
          <p:nvPr/>
        </p:nvSpPr>
        <p:spPr>
          <a:xfrm>
            <a:off x="5242560" y="1023600"/>
            <a:ext cx="356108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1400" b="1" dirty="0">
                <a:latin typeface="+mj-lt"/>
              </a:rPr>
              <a:t>🧰 Tech Stack</a:t>
            </a:r>
          </a:p>
          <a:p>
            <a:pPr algn="ctr">
              <a:buNone/>
            </a:pPr>
            <a:endParaRPr lang="en-IN" sz="1400" b="1" dirty="0">
              <a:latin typeface="+mj-lt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Frontend:</a:t>
            </a:r>
            <a:r>
              <a:rPr lang="en-IN" sz="1400" dirty="0">
                <a:latin typeface="+mj-lt"/>
              </a:rPr>
              <a:t> HTML, CSS, JavaScript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Backend:</a:t>
            </a:r>
            <a:r>
              <a:rPr lang="en-IN" sz="1400" dirty="0">
                <a:latin typeface="+mj-lt"/>
              </a:rPr>
              <a:t> Java (Servlets / Spring / Core Java Logic)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Database:</a:t>
            </a:r>
            <a:r>
              <a:rPr lang="en-IN" sz="1400" dirty="0">
                <a:latin typeface="+mj-lt"/>
              </a:rPr>
              <a:t> MySQL / SQL-based storage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Version Control:</a:t>
            </a:r>
            <a:r>
              <a:rPr lang="en-IN" sz="1400" dirty="0">
                <a:latin typeface="+mj-lt"/>
              </a:rPr>
              <a:t> Git &amp; GitHub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Authentication:</a:t>
            </a:r>
            <a:r>
              <a:rPr lang="en-IN" sz="1400" dirty="0">
                <a:latin typeface="+mj-lt"/>
              </a:rPr>
              <a:t> Session-based Login 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Tools &amp; Libraries:</a:t>
            </a:r>
            <a:r>
              <a:rPr lang="en-IN" sz="1400" dirty="0">
                <a:latin typeface="+mj-lt"/>
              </a:rPr>
              <a:t> JDBC, JSP (if used), Chart libraries for analytics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400" b="1" dirty="0">
                <a:latin typeface="+mj-lt"/>
              </a:rPr>
              <a:t>Hosting (Optional):</a:t>
            </a:r>
            <a:r>
              <a:rPr lang="en-IN" sz="1400" dirty="0">
                <a:latin typeface="+mj-lt"/>
              </a:rPr>
              <a:t> AWS / Local server / Tomcat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68880" y="406400"/>
            <a:ext cx="428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600" b="1" dirty="0"/>
              <a:t>Authentication &amp; RBAC (Role-Based Access Control)</a:t>
            </a:r>
          </a:p>
        </p:txBody>
      </p:sp>
      <p:sp>
        <p:nvSpPr>
          <p:cNvPr id="4" name="Text 2"/>
          <p:cNvSpPr/>
          <p:nvPr/>
        </p:nvSpPr>
        <p:spPr>
          <a:xfrm>
            <a:off x="1056640" y="1211580"/>
            <a:ext cx="3931920" cy="355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600" b="1" dirty="0"/>
              <a:t>🔹 </a:t>
            </a:r>
            <a:r>
              <a:rPr lang="en-IN" b="1" dirty="0"/>
              <a:t>What it includes</a:t>
            </a:r>
          </a:p>
          <a:p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Secure </a:t>
            </a:r>
            <a:r>
              <a:rPr lang="en-IN" sz="1400" b="1" dirty="0"/>
              <a:t>Signup/Login</a:t>
            </a:r>
            <a:r>
              <a:rPr lang="en-IN" sz="1400" dirty="0"/>
              <a:t> with form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Session-based authentication with role mapping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Role-based access control</a:t>
            </a:r>
            <a:r>
              <a:rPr lang="en-IN" sz="1400" dirty="0"/>
              <a:t> (Admin / Student) to restrict pages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Protected routes for dashboard, quiz management, course management,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Middleware to validate user role before serving content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Password hashing and secure credential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Logout &amp; session timeout handling</a:t>
            </a:r>
          </a:p>
        </p:txBody>
      </p:sp>
      <p:sp>
        <p:nvSpPr>
          <p:cNvPr id="6" name="Text 4"/>
          <p:cNvSpPr/>
          <p:nvPr/>
        </p:nvSpPr>
        <p:spPr>
          <a:xfrm>
            <a:off x="4790440" y="12115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/>
              <a:t>🔹 How it helps users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Ensures users access only what their </a:t>
            </a:r>
            <a:r>
              <a:rPr lang="en-US" sz="1400" b="1" dirty="0"/>
              <a:t>role permits</a:t>
            </a:r>
            <a:r>
              <a:rPr lang="en-US" sz="1400" dirty="0"/>
              <a:t>, improving safety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Prevents unauthorized access to </a:t>
            </a:r>
            <a:r>
              <a:rPr lang="en-US" sz="1400" b="1" dirty="0"/>
              <a:t>admin-level features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Provides a </a:t>
            </a:r>
            <a:r>
              <a:rPr lang="en-US" sz="1400" b="1" dirty="0"/>
              <a:t>smooth, trusted login flow</a:t>
            </a:r>
            <a:r>
              <a:rPr lang="en-US" sz="1400" dirty="0"/>
              <a:t> for both students and faculty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Protects sensitive data like scores, results, and admin controls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Creates a </a:t>
            </a:r>
            <a:r>
              <a:rPr lang="en-US" sz="1400" b="1" dirty="0"/>
              <a:t>secure boundary</a:t>
            </a:r>
            <a:r>
              <a:rPr lang="en-US" sz="1400" dirty="0"/>
              <a:t> around the entire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mistakes by ensuring each user sees </a:t>
            </a:r>
            <a:r>
              <a:rPr lang="en-US" sz="1400" b="1" dirty="0"/>
              <a:t>only relevant features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99198-098C-487B-221D-1B492B375F1F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AAA7C4F-C4A2-CE3F-1174-0D63CE8E6538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 0">
            <a:extLst>
              <a:ext uri="{FF2B5EF4-FFF2-40B4-BE49-F238E27FC236}">
                <a16:creationId xmlns:a16="http://schemas.microsoft.com/office/drawing/2014/main" id="{C6986072-DD81-BE16-46A8-DCC8CBE89C49}"/>
              </a:ext>
            </a:extLst>
          </p:cNvPr>
          <p:cNvSpPr/>
          <p:nvPr/>
        </p:nvSpPr>
        <p:spPr>
          <a:xfrm>
            <a:off x="2621280" y="162560"/>
            <a:ext cx="428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600" b="1" dirty="0">
                <a:solidFill>
                  <a:srgbClr val="203040"/>
                </a:solidFill>
              </a:rPr>
              <a:t>Exam Engine</a:t>
            </a:r>
            <a:endParaRPr lang="en-US" sz="2600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BD6132F7-B003-F789-9ED4-6AF852400967}"/>
              </a:ext>
            </a:extLst>
          </p:cNvPr>
          <p:cNvSpPr/>
          <p:nvPr/>
        </p:nvSpPr>
        <p:spPr>
          <a:xfrm>
            <a:off x="1209040" y="1069340"/>
            <a:ext cx="3931920" cy="355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600" b="1" dirty="0"/>
              <a:t>🔹 </a:t>
            </a:r>
            <a:r>
              <a:rPr lang="en-IN" b="1" dirty="0"/>
              <a:t>What it includes</a:t>
            </a:r>
          </a:p>
          <a:p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Timed exams with real-time </a:t>
            </a:r>
            <a:r>
              <a:rPr lang="en-US" sz="1400" b="1" dirty="0"/>
              <a:t>progress tracking</a:t>
            </a:r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Question navigation with </a:t>
            </a:r>
            <a:r>
              <a:rPr lang="en-US" sz="1400" b="1" dirty="0"/>
              <a:t>state saving</a:t>
            </a:r>
            <a:r>
              <a:rPr lang="en-US" sz="1400" dirty="0"/>
              <a:t> (no loss on refresh)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Automatic scoring and result generation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MCQ-based assessments across multiple 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Practice sections for </a:t>
            </a:r>
            <a:r>
              <a:rPr lang="en-US" sz="1400" b="1" dirty="0"/>
              <a:t>Aptitude, DSA, CS Fundamentals,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Result storage for analytics and performance comparison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Review mode to recheck attempted questions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Randomized question order to avoid repetition</a:t>
            </a:r>
            <a:endParaRPr lang="en-IN" sz="14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37B53568-9BA5-BDDF-C449-132E4B58EC51}"/>
              </a:ext>
            </a:extLst>
          </p:cNvPr>
          <p:cNvSpPr/>
          <p:nvPr/>
        </p:nvSpPr>
        <p:spPr>
          <a:xfrm>
            <a:off x="5080000" y="106934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b="1" dirty="0"/>
              <a:t>🔹 How it helps users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Provides a </a:t>
            </a:r>
            <a:r>
              <a:rPr lang="en-US" sz="1400" b="1" dirty="0"/>
              <a:t>real exam-like environment</a:t>
            </a:r>
            <a:r>
              <a:rPr lang="en-US" sz="1400" dirty="0"/>
              <a:t>, improving confidence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Prevents data loss even if the page is refreshed or connection drops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Gives </a:t>
            </a:r>
            <a:r>
              <a:rPr lang="en-US" sz="1400" b="1" dirty="0"/>
              <a:t>instant results</a:t>
            </a:r>
            <a:r>
              <a:rPr lang="en-US" sz="1400" dirty="0"/>
              <a:t> for faster learning and improvement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Supports targeted practice so students improve on weak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Keeps learners engaged with smooth navigation and clear 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Helps teachers track class-wide patterns through stored results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7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03040"/>
                </a:solidFill>
              </a:rPr>
              <a:t>Reports &amp; Analytics</a:t>
            </a:r>
            <a:endParaRPr lang="en-US" sz="2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745458-F38E-55E6-27F2-B1A9AA9798A1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828B5B37-62B2-5550-F06D-DA46B6D29E6D}"/>
              </a:ext>
            </a:extLst>
          </p:cNvPr>
          <p:cNvSpPr/>
          <p:nvPr/>
        </p:nvSpPr>
        <p:spPr>
          <a:xfrm>
            <a:off x="1076960" y="793750"/>
            <a:ext cx="3931920" cy="355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600" b="1" dirty="0"/>
              <a:t>🔹 </a:t>
            </a:r>
            <a:r>
              <a:rPr lang="en-IN" b="1" dirty="0"/>
              <a:t>What it includes</a:t>
            </a:r>
          </a:p>
          <a:p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Interactive charts and performance breakdowns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Category-wise accuracy and time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Full attempt history with comparison across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Strength &amp; weakness identification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Trend graphs for improvement tracking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Export-ready summary (PDF/Excel)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Detailed question-level analysis</a:t>
            </a:r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C2915995-0008-A74A-ABCA-AE77902DDD76}"/>
              </a:ext>
            </a:extLst>
          </p:cNvPr>
          <p:cNvSpPr/>
          <p:nvPr/>
        </p:nvSpPr>
        <p:spPr>
          <a:xfrm>
            <a:off x="5008880" y="1069340"/>
            <a:ext cx="3931920" cy="355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sz="1600" b="1" dirty="0"/>
              <a:t>🔹 </a:t>
            </a:r>
            <a:r>
              <a:rPr lang="en-IN" b="1" dirty="0"/>
              <a:t>How it helps users</a:t>
            </a:r>
          </a:p>
          <a:p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insights make performance easy to understand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Clearly shows growth over time → boosts motivation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Identifies weak areas so learners can focus better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Helps plan next preparation steps intelligently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Easy to share reports with mentors or admins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Supports data-driven progress tracking for students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7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03040"/>
                </a:solidFill>
              </a:rPr>
              <a:t>Student Experience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59512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What it includes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85519" y="741680"/>
            <a:ext cx="3769361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Personalized dashboard and learning paths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Responsive UI with accessible components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Notifications and toasts for key actions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Content library and practice modules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28320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How it helps users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754880" y="44704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Clear next actions reduce confusion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Works great on mobile and desktop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Keeps users informed without friction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One place for study and practice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536249-DF04-08AA-FB33-A0B3453F0451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Admin Tools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What it includes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CRUD for students, exams, questions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Role management and settings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Bulk operations and email triggers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Dashboards for oversight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6344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How it helps users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663440" y="15544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Saves time managing large cohorts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Reduces human error through workflows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Automates communication at scale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Quickly spots issues and trends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E6AC82-F577-246C-40AA-BFF681218105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Email &amp; Notifications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What it includes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Registration and password reset emails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Result and report notifications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Provider-agnostic setup (SendGrid/Mailgun)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6344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How it helps users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663440" y="15544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Users stay updated on critical actions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Encourages return and course completion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Easy to switch providers when needed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D3DA2B-A052-5C70-C507-9458FB5D9EF1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ML Personalization (Planned)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What it includes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Category-wise performance analytics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Level classification (Beginner/Intermediate/Advanced)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Personalized learning recommendations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Adaptive learning path generation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63440" y="10972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B49"/>
                </a:solidFill>
              </a:rPr>
              <a:t>How it helps users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663440" y="1554480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Improves outcomes with tailored insights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Focuses effort where it matters most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Provides clear guidance after every attempt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</a:rPr>
              <a:t>• Saves time by removing guesswork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70415C-E47E-3D39-BEF5-235EE50C9D32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Security &amp; Authentication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JWT issuance/verification and secure password hashing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Role-Based Access Control (RBAC) on routes and APIs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Centralized logging and security utilities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7CF7B1-8867-C89C-2D82-B10E98EAC3B9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ML Analysis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Category-wise performance and recommendations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Strength/weakness detection and level classification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Learning path suggestions based on results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5744F6-0809-F09B-D802-E254AF8A2DD9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Landing Page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E4E0ECD-B0C3-C5FC-4FF8-12F90B08A82B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Auth - Login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auth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8EB9646-8316-9854-55DE-67F0B922D226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Auth - Signup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auth-sign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64ADD71-8109-B5C9-EC55-DA8E9291FC72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Student Dashboard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student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8B84C6F-03AB-9756-47F3-9D66059BB1AD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Student Exams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student-ex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C59B12D-AF59-7183-0C0D-21ABBD9B6F31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Reports &amp; Charts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7C73EE8-14ED-EC82-FBE5-EB82E1B7A48B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Admin Dashboard</a:t>
            </a:r>
            <a:endParaRPr lang="en-US" sz="2600" dirty="0"/>
          </a:p>
        </p:txBody>
      </p:sp>
      <p:pic>
        <p:nvPicPr>
          <p:cNvPr id="3" name="Image 0" descr="C:\Users\manis\Downloads\e-learning platform\docs\screenshots\admi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82296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8A3237-BA8C-E3F0-A042-66388EFDD11A}"/>
              </a:ext>
            </a:extLst>
          </p:cNvPr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Demo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1) Landing → explore features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2) Auth → login/signup as role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3) Student Dashboard → review modules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4) Exams → attempt and submit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5) Reports → view insights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6) Admin → manage students/exams/questions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F2F2D1-B61D-631C-3ED4-EC2106D3D399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Team &amp; Work Allocation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413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Name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Primary Modules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Responsibilities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Manish Kumar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Auth, RBAC, Security, Middleware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Auth flows, JWT, route protection, RBAC guards, security utils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Akash Kumar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Exam Engine, Reports, ML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Exam attempts, scoring, ML analysis, report visuals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Manoj Kumar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CRUD, Email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CRUD pages/APIs, email notifications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Shiva Jadoun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Student Dashboard &amp; UX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Student flows, dashboard, responsive UX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Amit Saraswat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QA, CI, Docs, Seed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Test data, CI workflows, docs, .env.example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Somdatt Verma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UI Polish, A11y, Content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Responsive polish, accessibility, assets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6AE8104E-7E04-420D-215C-72B853692946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Manish Kumar — Auth &amp; Security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JWT issuance/verification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RBAC policies and route guards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Middleware protection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Security utilities and logging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4C5406-F7E4-07AB-823A-F9C7CDF4EAC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Akash Kumar — Exam Engine &amp; Reports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Exam attempt lifecycle and state restore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Scoring hooks and models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Charts and report generation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ML integration plan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BA7DF5-6896-6ADF-CACE-59C5DEB94604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Manoj Kumar — Admin &amp; Email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CRUD: students, exams, questions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Admin dashboards and settings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Email notifications (registration/results)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0B0BCB-A618-98C4-98F7-9DBD966F3336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Shiva Jadoun — Student UX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Dashboard and learning paths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Responsive components and states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Navigation &amp; feedback (toasts/alerts)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ECED06-C44A-35F7-64F4-66EA63553FD8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Amit Saraswat — QA &amp;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Seed/test data preparation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Lint/build workflows on PRs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Docs and .env.example maintenance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5939E2-C4E8-23C2-87ED-074244B2EC73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Somdatt Verma — UI Polish &amp; A11y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Responsive polish and theming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Accessibility checks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Content assets management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4DFEA9-B788-1294-06C7-18E7A8A77D85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Progress vs. Next Steps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261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Area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Next Steps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Scaffolding &amp; UI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Completed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Polish and tidy components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Landing &amp; Auth UI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Completed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Finalize backend auth flow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Middleware &amp; RBAC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Refine role checks and tokens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Student Modules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Wire to APIs and data models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Dashboard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Complete CRUD and validations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Reports &amp; Charts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Connect to ML and persistence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ML Integration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Pending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Implement data pipeline and outputs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Email Integration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Pending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Configure provider keys, test flows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Testing &amp; CI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Pending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Add workflows, minimal tests, lint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EFA255BC-D3CF-E3CD-2E2F-A7843AA19700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KPIs &amp; Success Metrics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Metric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Target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Why It Matters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Monthly Active Users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500+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Adoption and engagement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Exam Completion Rate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≥ 75%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Stickiness and flow quality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Avg. Score Improvement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+10%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Learning impact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Report Views per User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≥ 3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Insight consumption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7-day Retention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≥ 40%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Habit formation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A1BD3166-4135-73B8-76EE-325E1BEAE418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Timeline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1432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Phase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Scope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Window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Phase 1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Auth, UI scaffolding, basic exams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Week 1–2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Phase 2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Admin CRUD, student flows, reports UI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Week 3–4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Phase 3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ML integration, email, polish &amp; CI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Week 5–6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1265065E-3ABC-DB02-2975-94804D930AE6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Risks &amp; Mitigations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2555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Risk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Impact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1A1A"/>
                          </a:solidFill>
                        </a:rPr>
                        <a:t>Mitigation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Data security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RBAC, validation, secure storage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Exam integrity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Timers, session checks, proctoring roadmap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Scale/performance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Caching, indexes, monitoring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Email delivery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Low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Provider retries, fallbacks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ML data quality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</a:rPr>
                        <a:t>Validation &amp; continuous evaluation</a:t>
                      </a:r>
                      <a:endParaRPr lang="en-US" sz="1400" dirty="0"/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0C130FDC-7204-FDAC-0F8F-732A5AF580E0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Testing &amp;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ESLint/type checks on PRs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Build and smoke tests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Planned e2e for key flows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EC9FFC-FCAC-1020-4FED-E8BB77D7FD39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Accessibility &amp; Performance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Keyboard navigation and ARIA labels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Color contrast and focus states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Lighthouse performance targets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B1B0E-B9C5-B3FE-3A9B-E51AF9C80BD7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Roadmap &amp; Deployment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Implement full auth backend and RBAC guards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Complete Admin CRUD and Student data wiring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Integrate ML analysis end-to-end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Add CI, tests, and deployment (Vercel)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Prepare demo walkthrough and documentation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2A2E32-21BF-BE0C-F13B-391B755B7BD6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040"/>
                </a:solidFill>
              </a:rPr>
              <a:t>Summary &amp; Ask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Delivering a secure, insightful e-learning experience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Clear roadmap and measurable KPIs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</a:rPr>
              <a:t>• Feedback on ML scope and deployment plan appreciated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44D4D9-5A89-7ED7-9A6B-374100218338}"/>
              </a:ext>
            </a:extLst>
          </p:cNvPr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40320" y="152400"/>
            <a:ext cx="1371600" cy="5892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1526</TotalTime>
  <Words>2029</Words>
  <Application>Microsoft Office PowerPoint</Application>
  <PresentationFormat>On-screen Show (16:9)</PresentationFormat>
  <Paragraphs>369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Corbel</vt:lpstr>
      <vt:lpstr>Parallax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MANISH PRAJAPATI</cp:lastModifiedBy>
  <cp:revision>2</cp:revision>
  <dcterms:created xsi:type="dcterms:W3CDTF">2025-11-14T05:31:30Z</dcterms:created>
  <dcterms:modified xsi:type="dcterms:W3CDTF">2025-11-15T07:05:20Z</dcterms:modified>
</cp:coreProperties>
</file>